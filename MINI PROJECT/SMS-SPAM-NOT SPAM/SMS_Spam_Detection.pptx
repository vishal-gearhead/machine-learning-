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930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Decision Tree</c:v>
                </c:pt>
                <c:pt idx="1">
                  <c:v>Logistic Reg.</c:v>
                </c:pt>
                <c:pt idx="2">
                  <c:v>Gaussian NB</c:v>
                </c:pt>
                <c:pt idx="3">
                  <c:v>Multinomial NB</c:v>
                </c:pt>
                <c:pt idx="4">
                  <c:v>Bernoulli NB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93.2</c:v>
                </c:pt>
                <c:pt idx="1">
                  <c:v>93.2</c:v>
                </c:pt>
                <c:pt idx="2">
                  <c:v>80</c:v>
                </c:pt>
                <c:pt idx="3">
                  <c:v>95</c:v>
                </c:pt>
                <c:pt idx="4">
                  <c:v>97.1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77-4EC0-8288-EA2D0A8CDE3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 (%)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Decision Tree</c:v>
                </c:pt>
                <c:pt idx="1">
                  <c:v>Logistic Reg.</c:v>
                </c:pt>
                <c:pt idx="2">
                  <c:v>Gaussian NB</c:v>
                </c:pt>
                <c:pt idx="3">
                  <c:v>Multinomial NB</c:v>
                </c:pt>
                <c:pt idx="4">
                  <c:v>Bernoulli NB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82.1</c:v>
                </c:pt>
                <c:pt idx="1">
                  <c:v>82</c:v>
                </c:pt>
                <c:pt idx="2">
                  <c:v>38.4</c:v>
                </c:pt>
                <c:pt idx="3">
                  <c:v>98.9</c:v>
                </c:pt>
                <c:pt idx="4">
                  <c:v>96.6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577-4EC0-8288-EA2D0A8CDE3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5472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628133" y="219020"/>
            <a:ext cx="3277507" cy="2152760"/>
          </a:xfrm>
          <a:prstGeom prst="ellipse">
            <a:avLst/>
          </a:prstGeom>
          <a:solidFill>
            <a:srgbClr val="162A50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</a:rPr>
              <a:t>MACHINE LEARNING PROJECT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Spam Detection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Comparison &amp; Analysis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27432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5,572 SMS messages  •  5 Algorithms Compared  •  TF-IDF Vectorization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DDC6B9-07BA-A030-3F9B-76AFCB60F1AC}"/>
              </a:ext>
            </a:extLst>
          </p:cNvPr>
          <p:cNvSpPr txBox="1"/>
          <p:nvPr/>
        </p:nvSpPr>
        <p:spPr>
          <a:xfrm>
            <a:off x="6427885" y="3732405"/>
            <a:ext cx="247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VISHAL KUMAR</a:t>
            </a:r>
            <a:endParaRPr lang="en-IN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" name="AutoShape 2" descr="alliance_university">
            <a:extLst>
              <a:ext uri="{FF2B5EF4-FFF2-40B4-BE49-F238E27FC236}">
                <a16:creationId xmlns:a16="http://schemas.microsoft.com/office/drawing/2014/main" id="{53052F17-2D44-34A9-A89B-E5D5734FB7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14290" y="1295400"/>
            <a:ext cx="1339174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37D068B-8F38-C832-3F87-82DB4000D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1893" y="891488"/>
            <a:ext cx="2789986" cy="4039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554480" cy="3291840"/>
          </a:xfrm>
          <a:prstGeom prst="rect">
            <a:avLst/>
          </a:prstGeom>
          <a:solidFill>
            <a:srgbClr val="0F1F3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737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 Cleaning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64008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" y="242316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Removed 403 duplicates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5,572 → 5,169 messages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0" y="868680"/>
            <a:ext cx="1554480" cy="329184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011680" y="10058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011680" y="1737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EDA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468880" y="2286000"/>
            <a:ext cx="64008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057400" y="242316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Class distribution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text statistics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49040" y="868680"/>
            <a:ext cx="1554480" cy="3291840"/>
          </a:xfrm>
          <a:prstGeom prst="rect">
            <a:avLst/>
          </a:prstGeom>
          <a:solidFill>
            <a:srgbClr val="0F1F3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749040" y="10058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749040" y="1737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Preprocessing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06240" y="2286000"/>
            <a:ext cx="64008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794760" y="242316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Tokenize, stem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remove stopwords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0" y="868680"/>
            <a:ext cx="1554480" cy="329184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486400" y="10058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486400" y="1737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Model Building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43600" y="2286000"/>
            <a:ext cx="64008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532120" y="242316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5 ML algorithms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TF-IDF features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23760" y="868680"/>
            <a:ext cx="1554480" cy="3291840"/>
          </a:xfrm>
          <a:prstGeom prst="rect">
            <a:avLst/>
          </a:prstGeom>
          <a:solidFill>
            <a:srgbClr val="0F1F3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223760" y="10058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</a:rPr>
              <a:t>05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223760" y="1737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680960" y="2286000"/>
            <a:ext cx="64008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269480" y="242316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Accuracy, Precision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Confusion Matrix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Dataset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920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1920240" cy="914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1F3D"/>
                </a:solidFill>
              </a:rPr>
              <a:t>5,572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F3D"/>
                </a:solidFill>
              </a:rPr>
              <a:t>Total Messages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057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Original dataset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868680"/>
            <a:ext cx="1920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423160" y="868680"/>
            <a:ext cx="1920240" cy="914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423160" y="10058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1F3D"/>
                </a:solidFill>
              </a:rPr>
              <a:t>5,169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423160" y="1737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F3D"/>
                </a:solidFill>
              </a:rPr>
              <a:t>After Cleaning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23160" y="2057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403 duplicates removed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868680"/>
            <a:ext cx="1920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0" y="868680"/>
            <a:ext cx="1920240" cy="91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72000" y="10058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1F3D"/>
                </a:solidFill>
              </a:rPr>
              <a:t>87.4%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572000" y="1737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F3D"/>
                </a:solidFill>
              </a:rPr>
              <a:t>Ham (Legit)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2057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4,516 messages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20840" y="868680"/>
            <a:ext cx="1920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720840" y="868680"/>
            <a:ext cx="1920240" cy="91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720840" y="10058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1F3D"/>
                </a:solidFill>
              </a:rPr>
              <a:t>12.6%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720840" y="1737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F3D"/>
                </a:solidFill>
              </a:rPr>
              <a:t>Spam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20840" y="2057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653 messages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834640"/>
            <a:ext cx="8595360" cy="1371600"/>
          </a:xfrm>
          <a:prstGeom prst="rect">
            <a:avLst/>
          </a:prstGeom>
          <a:solidFill>
            <a:srgbClr val="FFF7ED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02920" y="29260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Class Imbalance Notice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329184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F3D"/>
                </a:solidFill>
              </a:rPr>
              <a:t>The dataset is significantly imbalanced — Ham outnumbers Spam by ~7:1. This makes Precision a more reliable metric than Accuracy alone, since a naive classifier predicting all Ham would still score ~87% accuracy.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Text Preprocessing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8869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841248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</a:rPr>
              <a:t>Lowercase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17520" y="950976"/>
            <a:ext cx="5852160" cy="347472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108960" y="950976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Convert entire text to lowercase for uniformity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" y="1389888"/>
            <a:ext cx="73152" cy="20116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1645920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74320" y="1645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160020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</a:rPr>
              <a:t>Tokenize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017520" y="1709928"/>
            <a:ext cx="5852160" cy="347472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108960" y="1709928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Split text into individual word tokens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" y="2148840"/>
            <a:ext cx="73152" cy="20116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74320" y="2404872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74320" y="2404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359152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</a:rPr>
              <a:t>Remove Non-Alpha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017520" y="2468880"/>
            <a:ext cx="5852160" cy="347472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108960" y="2468880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Keep only alphanumeric tokens, discard symbols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" y="2907792"/>
            <a:ext cx="73152" cy="20116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74320" y="3163824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74320" y="31638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3118104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</a:rPr>
              <a:t>Remove Stopwords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017520" y="3227832"/>
            <a:ext cx="5852160" cy="347472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108960" y="3227832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Drop common words (a, the, is...) that add no signal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" y="3666744"/>
            <a:ext cx="73152" cy="20116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274320" y="3922776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74320" y="39227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4400" y="3877056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</a:rPr>
              <a:t>Stemming (Porter)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017520" y="3986784"/>
            <a:ext cx="5852160" cy="347472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108960" y="3986784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Reduce words to root: playing → play, studies → studi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5720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9E0B"/>
                </a:solidFill>
              </a:rPr>
              <a:t>Example:  "What you thinked about me"   →   "what think"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Algorithm Performance Results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285292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Insight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— overfits slightly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~82.0%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accuracy as DT; needs tuning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 Naive Bayes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— not suited for sparse TF-IDF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Multinomial NB 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precision — recommended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Bernoulli NB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accuracy overall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886200"/>
            <a:ext cx="8595360" cy="1051560"/>
          </a:xfrm>
          <a:prstGeom prst="rect">
            <a:avLst/>
          </a:prstGeom>
          <a:solidFill>
            <a:srgbClr val="0F1F3D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3"/>
          <p:cNvSpPr/>
          <p:nvPr/>
        </p:nvSpPr>
        <p:spPr>
          <a:xfrm>
            <a:off x="274320" y="3886200"/>
            <a:ext cx="128016" cy="10515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48640" y="395935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</a:rPr>
              <a:t>★  Winner: Multinomial Naive Bayes + TF-IDF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435254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95.0% accuracy  •  98.9% precision  •  Only 1 legitimate message misclassified as spam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Accuracy vs Precision — Visual Comparison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859536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Confusion Matrix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1605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87782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</a:rPr>
              <a:t>Decision Tree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54480" y="1225296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Pred. Ham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834640" y="122529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Pred. Spam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74320" y="147218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Act. Ham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1938528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Act. Spam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554480" y="1463040"/>
            <a:ext cx="1234440" cy="402336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554480" y="1463040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</a:rPr>
              <a:t>877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834640" y="1463040"/>
            <a:ext cx="1371600" cy="402336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834640" y="146304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</a:rPr>
              <a:t>19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554480" y="1929384"/>
            <a:ext cx="1234440" cy="402336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554480" y="192938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</a:rPr>
              <a:t>51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834640" y="1929384"/>
            <a:ext cx="1371600" cy="402336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834640" y="192938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</a:rPr>
              <a:t>87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09160" y="822960"/>
            <a:ext cx="41605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00600" y="87782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</a:rPr>
              <a:t>Gaussian NB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35040" y="1225296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Pred. Ham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315200" y="122529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Pred. Spam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0" y="147218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Act. Ham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0" y="1938528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Act. Spam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035040" y="1463040"/>
            <a:ext cx="1234440" cy="402336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035040" y="1463040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</a:rPr>
              <a:t>713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15200" y="1463040"/>
            <a:ext cx="1371600" cy="402336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315200" y="146304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</a:rPr>
              <a:t>183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35040" y="1929384"/>
            <a:ext cx="1234440" cy="402336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035040" y="192938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</a:rPr>
              <a:t>24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315200" y="1929384"/>
            <a:ext cx="1371600" cy="402336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315200" y="192938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</a:rPr>
              <a:t>114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28600" y="3063240"/>
            <a:ext cx="4160520" cy="2011680"/>
          </a:xfrm>
          <a:prstGeom prst="rect">
            <a:avLst/>
          </a:prstGeom>
          <a:solidFill>
            <a:srgbClr val="F0FDF4"/>
          </a:solidFill>
          <a:ln w="25400">
            <a:solidFill>
              <a:srgbClr val="22C55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20040" y="311810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</a:rPr>
              <a:t>Multinomial NB  ★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554480" y="3465576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Pred. Ham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834640" y="346557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Pred. Spam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74320" y="371246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Act. Ham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74320" y="4178808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Act. Spam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554480" y="3703320"/>
            <a:ext cx="1234440" cy="402336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1554480" y="3703320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</a:rPr>
              <a:t>895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2834640" y="3703320"/>
            <a:ext cx="1371600" cy="402336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2834640" y="370332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</a:rPr>
              <a:t>1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1554480" y="4169664"/>
            <a:ext cx="1234440" cy="402336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1554480" y="416966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</a:rPr>
              <a:t>51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2834640" y="4169664"/>
            <a:ext cx="1371600" cy="402336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2834640" y="416966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</a:rPr>
              <a:t>87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4709160" y="3063240"/>
            <a:ext cx="41605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800600" y="311810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</a:rPr>
              <a:t>Bernoulli NB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035040" y="3465576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Pred. Ham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315200" y="346557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Pred. Spam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754880" y="371246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Act. Ham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754880" y="4178808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Act. Spam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035040" y="3703320"/>
            <a:ext cx="1234440" cy="402336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6035040" y="3703320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</a:rPr>
              <a:t>892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7315200" y="3703320"/>
            <a:ext cx="1371600" cy="402336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7315200" y="370332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</a:rPr>
              <a:t>4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6035040" y="4169664"/>
            <a:ext cx="1234440" cy="402336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6035040" y="416966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</a:rPr>
              <a:t>26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7315200" y="4169664"/>
            <a:ext cx="1371600" cy="402336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7315200" y="416966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</a:rPr>
              <a:t>112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59E0B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Findings &amp; Recommendation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84048" y="1527048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84048" y="15270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463040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Multinomial NB achieves 98.9% precision — minimal false positives, best for spam filtering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" y="2185416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84048" y="21854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121408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Bernoulli NB delivers 97.1% accuracy — highest overall correctness among all models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" y="2843784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84048" y="28437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779776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Gaussian NB is unsuitable for sparse TF-IDF vectors — only 38.4% precision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4048" y="3502152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84048" y="35021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3438144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Decision Tree &amp; Logistic Regression both plateau at 93.2% — outclassed by Naive Bayes variants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4048" y="4096512"/>
            <a:ext cx="8503920" cy="713232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4864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★  Final Pick: TF-IDF + Multinomial Naive Bayes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Best balance of Precision (98.9%), Accuracy (95%) and computational efficiency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974</TotalTime>
  <Words>480</Words>
  <Application>Microsoft Office PowerPoint</Application>
  <PresentationFormat>On-screen Show (16:9)</PresentationFormat>
  <Paragraphs>143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SMS Spam Detection - Algorithm Comparison</dc:title>
  <dc:subject>PptxGenJS Presentation</dc:subject>
  <dc:creator>PptxGenJS</dc:creator>
  <cp:lastModifiedBy>Vishu Hacker</cp:lastModifiedBy>
  <cp:revision>3</cp:revision>
  <dcterms:created xsi:type="dcterms:W3CDTF">2026-03-29T04:45:58Z</dcterms:created>
  <dcterms:modified xsi:type="dcterms:W3CDTF">2026-04-03T16:57:54Z</dcterms:modified>
</cp:coreProperties>
</file>