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F8E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Logistic Reg.</c:v>
                </c:pt>
                <c:pt idx="2">
                  <c:v>Gaussian NB</c:v>
                </c:pt>
                <c:pt idx="3">
                  <c:v>Multinomial NB</c:v>
                </c:pt>
                <c:pt idx="4">
                  <c:v>Bernoulli NB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93.3</c:v>
                </c:pt>
                <c:pt idx="1">
                  <c:v>95.4</c:v>
                </c:pt>
                <c:pt idx="2">
                  <c:v>79.900000000000006</c:v>
                </c:pt>
                <c:pt idx="3">
                  <c:v>96.1</c:v>
                </c:pt>
                <c:pt idx="4">
                  <c:v>96.9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EB-44C2-988D-B2737F6177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Logistic Reg.</c:v>
                </c:pt>
                <c:pt idx="2">
                  <c:v>Gaussian NB</c:v>
                </c:pt>
                <c:pt idx="3">
                  <c:v>Multinomial NB</c:v>
                </c:pt>
                <c:pt idx="4">
                  <c:v>Bernoulli NB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85.2</c:v>
                </c:pt>
                <c:pt idx="1">
                  <c:v>95.3</c:v>
                </c:pt>
                <c:pt idx="2">
                  <c:v>39.9</c:v>
                </c:pt>
                <c:pt idx="3">
                  <c:v>98.2</c:v>
                </c:pt>
                <c:pt idx="4">
                  <c:v>96.7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EB-44C2-988D-B2737F6177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46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2D3A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MACHINE LEARNING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Spam Detection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&amp;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4572000" cy="36576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364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Messages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2926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3364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2926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3364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21808" y="132588"/>
            <a:ext cx="3741420" cy="2909350"/>
          </a:xfrm>
          <a:prstGeom prst="ellipse">
            <a:avLst/>
          </a:prstGeom>
          <a:solidFill>
            <a:srgbClr val="253480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19088" y="2583180"/>
            <a:ext cx="2560320" cy="2560320"/>
          </a:xfrm>
          <a:prstGeom prst="ellipse">
            <a:avLst/>
          </a:prstGeom>
          <a:solidFill>
            <a:srgbClr val="1A2A7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94960" y="3639312"/>
            <a:ext cx="1371600" cy="1371600"/>
          </a:xfrm>
          <a:prstGeom prst="ellipse">
            <a:avLst/>
          </a:prstGeom>
          <a:solidFill>
            <a:srgbClr val="4F8EF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AutoShape 2" descr="alliance_university_logo">
            <a:extLst>
              <a:ext uri="{FF2B5EF4-FFF2-40B4-BE49-F238E27FC236}">
                <a16:creationId xmlns:a16="http://schemas.microsoft.com/office/drawing/2014/main" id="{603B895C-5590-2C1F-291B-56A9F91EB6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A4BF6E1-CA20-3898-CF9A-682C51575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508" y="918972"/>
            <a:ext cx="3771900" cy="546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0664" y="1353312"/>
            <a:ext cx="640080" cy="64008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0664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65176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403 duplicates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5,572 → 5,169 messages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118872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59736" y="1353312"/>
            <a:ext cx="640080" cy="64008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59736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93392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66544" y="265176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statistics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12464" y="118872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78808" y="1353312"/>
            <a:ext cx="640080" cy="64008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78808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12464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85616" y="265176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stem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31536" y="118872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897880" y="1353312"/>
            <a:ext cx="640080" cy="64008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897880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31536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265176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algorithms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50608" y="1188720"/>
            <a:ext cx="157276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616952" y="1353312"/>
            <a:ext cx="640080" cy="64008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616952" y="1353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50608" y="2148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265176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109728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Messages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23160" y="1143000"/>
            <a:ext cx="1920240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23160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5,169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duplicates removed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1143000"/>
            <a:ext cx="1920240" cy="10972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(Legit)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4,516 messages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114300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20840" y="1143000"/>
            <a:ext cx="1920240" cy="1097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20840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208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 messages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788920"/>
            <a:ext cx="8595360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109728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2880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Notice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significantly imbalanced — Ham outnumbers Spam by ~7:1.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Precision a more reliable metric than Accuracy alone, since a naive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predicting all Ham would still score ~87%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24712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" y="1581912"/>
            <a:ext cx="64008" cy="228600"/>
          </a:xfrm>
          <a:prstGeom prst="rect">
            <a:avLst/>
          </a:prstGeom>
          <a:solidFill>
            <a:srgbClr val="B0BA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7863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64008" cy="5303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11338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13385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lowercase for uniformity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19656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" y="2276856"/>
            <a:ext cx="64008" cy="228600"/>
          </a:xfrm>
          <a:prstGeom prst="rect">
            <a:avLst/>
          </a:prstGeom>
          <a:solidFill>
            <a:srgbClr val="B0BA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14400" y="1792224"/>
            <a:ext cx="7863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1792224"/>
            <a:ext cx="64008" cy="5303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18288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individual word tokens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" y="2971800"/>
            <a:ext cx="64008" cy="228600"/>
          </a:xfrm>
          <a:prstGeom prst="rect">
            <a:avLst/>
          </a:prstGeom>
          <a:solidFill>
            <a:srgbClr val="B0BA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4400" y="2487168"/>
            <a:ext cx="7863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14400" y="2487168"/>
            <a:ext cx="64008" cy="5303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97280" y="25237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Non-Alpha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252374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alphanumeric tokens, discard symbols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209544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" y="3666744"/>
            <a:ext cx="64008" cy="228600"/>
          </a:xfrm>
          <a:prstGeom prst="rect">
            <a:avLst/>
          </a:prstGeom>
          <a:solidFill>
            <a:srgbClr val="B0BA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14400" y="3182112"/>
            <a:ext cx="7863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14400" y="3182112"/>
            <a:ext cx="64008" cy="5303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97280" y="3218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17520" y="321868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common words (a, the, is…) using custom set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3904488"/>
            <a:ext cx="457200" cy="457200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43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14400" y="3877056"/>
            <a:ext cx="7863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14400" y="3877056"/>
            <a:ext cx="64008" cy="530352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97280" y="3913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(Porter)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017520" y="39136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root: playing → play, studies → studi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100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you thinked about me. First time you saw me in class."</a:t>
            </a: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think first time saw"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Performance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86868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097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60520" y="1097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4068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508760"/>
            <a:ext cx="8686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8328" y="150876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98648" y="150876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50876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58968" y="150876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overfits slightly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920240"/>
            <a:ext cx="868680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8328" y="19202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98648" y="19202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78808" y="19202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58968" y="1920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overall balance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331720"/>
            <a:ext cx="8686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8328" y="233172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98648" y="233172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78808" y="233172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39.9%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58968" y="233172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— not suited for sparse TF-IDF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2743200"/>
            <a:ext cx="868680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8328" y="27432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98648" y="27432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78808" y="27432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58968" y="274320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precision — low false positives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154680"/>
            <a:ext cx="8686800" cy="457200"/>
          </a:xfrm>
          <a:prstGeom prst="rect">
            <a:avLst/>
          </a:prstGeom>
          <a:solidFill>
            <a:srgbClr val="EBF4FF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28600" y="3154680"/>
            <a:ext cx="64008" cy="45720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8328" y="315468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NB 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98648" y="315468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78808" y="315468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58968" y="315468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— winner!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4114800"/>
            <a:ext cx="86868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28600" y="4114800"/>
            <a:ext cx="109728" cy="77724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Winner: TF-IDF + Bernoulli NB  •  96.9% Accuracy  •  96.7% Precision  •  Highest overall accuracy across all 5 models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Precision — Visual Comparison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8595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10058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1417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1417320"/>
            <a:ext cx="14630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Pred: Ham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417320"/>
            <a:ext cx="14630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5176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Pred: Spam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764792"/>
            <a:ext cx="1005840" cy="438912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2880" y="17647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Act: Ham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88720" y="1764792"/>
            <a:ext cx="1463040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88720" y="17647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873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51760" y="1764792"/>
            <a:ext cx="14630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651760" y="17647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1C1C"/>
                </a:solidFill>
              </a:rPr>
              <a:t>16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2880" y="2203704"/>
            <a:ext cx="1005840" cy="438912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82880" y="220370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Act: Spam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88720" y="2203704"/>
            <a:ext cx="14630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88720" y="22037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1C1C"/>
                </a:solidFill>
              </a:rPr>
              <a:t>53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651760" y="2203704"/>
            <a:ext cx="1463040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651760" y="22037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92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417320"/>
            <a:ext cx="10058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1417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0" y="1417320"/>
            <a:ext cx="14630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5216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Pred: Ham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1417320"/>
            <a:ext cx="14630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1520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Pred: Spam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764792"/>
            <a:ext cx="1005840" cy="438912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46320" y="17647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Act: Ham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1764792"/>
            <a:ext cx="1463040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852160" y="17647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884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0" y="1764792"/>
            <a:ext cx="14630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315200" y="17647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1C1C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46320" y="2203704"/>
            <a:ext cx="1005840" cy="438912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46320" y="220370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Act: Spam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2203704"/>
            <a:ext cx="14630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852160" y="22037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1C1C"/>
                </a:solidFill>
              </a:rPr>
              <a:t>43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0" y="2203704"/>
            <a:ext cx="1463040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315200" y="22037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102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82880" y="297180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8288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Multinomial NB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82880" y="3337560"/>
            <a:ext cx="10058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82880" y="3337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188720" y="3337560"/>
            <a:ext cx="14630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18872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Pred: Ham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51760" y="3337560"/>
            <a:ext cx="14630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65176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Pred: Spam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" y="3685032"/>
            <a:ext cx="1005840" cy="438912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82880" y="368503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Act: Ham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188720" y="3685032"/>
            <a:ext cx="1463040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188720" y="3685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887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2651760" y="3685032"/>
            <a:ext cx="14630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651760" y="3685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1C1C"/>
                </a:solidFill>
              </a:rPr>
              <a:t>2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82880" y="4123944"/>
            <a:ext cx="1005840" cy="438912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182880" y="41239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Act: Spam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188720" y="4123944"/>
            <a:ext cx="14630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1188720" y="412394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1C1C"/>
                </a:solidFill>
              </a:rPr>
              <a:t>38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2651760" y="4123944"/>
            <a:ext cx="1463040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651760" y="412394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107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846320" y="2971800"/>
            <a:ext cx="3931920" cy="36576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84632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Bernoulli NB ★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846320" y="3337560"/>
            <a:ext cx="10058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846320" y="3337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852160" y="3337560"/>
            <a:ext cx="14630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85216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Pred: Ham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315200" y="3337560"/>
            <a:ext cx="1463040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731520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Pred: Spam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846320" y="3685032"/>
            <a:ext cx="1005840" cy="438912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846320" y="368503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Act: Ham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852160" y="3685032"/>
            <a:ext cx="1463040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5852160" y="3685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885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315200" y="3685032"/>
            <a:ext cx="14630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7315200" y="3685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1C1C"/>
                </a:solidFill>
              </a:rPr>
              <a:t>4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4846320" y="4123944"/>
            <a:ext cx="1005840" cy="438912"/>
          </a:xfrm>
          <a:prstGeom prst="rect">
            <a:avLst/>
          </a:prstGeom>
          <a:solidFill>
            <a:srgbClr val="1E2761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846320" y="41239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Act: Spam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852160" y="4123944"/>
            <a:ext cx="14630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5852160" y="412394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1C1C"/>
                </a:solidFill>
              </a:rPr>
              <a:t>28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315200" y="4123944"/>
            <a:ext cx="1463040" cy="438912"/>
          </a:xfrm>
          <a:prstGeom prst="rect">
            <a:avLst/>
          </a:prstGeom>
          <a:solidFill>
            <a:srgbClr val="E8F5E9"/>
          </a:solidFill>
          <a:ln w="38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7315200" y="412394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117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82880" y="4709160"/>
            <a:ext cx="228600" cy="1828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57200" y="4663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/ True Negative (correct)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663440" y="4709160"/>
            <a:ext cx="228600" cy="18288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4937760" y="4663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/ False Negative (error)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5348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1A2A70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NB achieves 96.9% accuracy — highest overall correctness, declared best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 delivers 98.2% precision — minimal false positives, excellent for spam filtering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improved to 95.4% accuracy — a solid general-purpose baseline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10712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3337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NB unsuitable for sparse TF-IDF vectors — only 39.9% precision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256032" cy="256032"/>
          </a:xfrm>
          <a:prstGeom prst="ellipse">
            <a:avLst/>
          </a:prstGeom>
          <a:solidFill>
            <a:srgbClr val="B0BA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(max_depth=5) plateaus at 93.3% — outclassed by Naive Bayes variants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Final Pick: TF-IDF + Bernoulli Naive Bayes  |  Best overall Accuracy (96.9%)  •  Precision 96.7%  •  Confirmed by code: max(results)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515</Words>
  <Application>Microsoft Office PowerPoint</Application>
  <PresentationFormat>On-screen Show (16:9)</PresentationFormat>
  <Paragraphs>147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SMS Spam Detection</dc:title>
  <dc:subject>PptxGenJS Presentation</dc:subject>
  <dc:creator>PptxGenJS</dc:creator>
  <cp:lastModifiedBy>Vishu Hacker</cp:lastModifiedBy>
  <cp:revision>2</cp:revision>
  <dcterms:created xsi:type="dcterms:W3CDTF">2026-04-08T11:34:54Z</dcterms:created>
  <dcterms:modified xsi:type="dcterms:W3CDTF">2026-04-08T11:42:11Z</dcterms:modified>
</cp:coreProperties>
</file>